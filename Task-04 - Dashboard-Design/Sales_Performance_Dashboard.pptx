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sldIdLst>
    <p:sldId id="256" r:id="rId2"/>
    <p:sldId id="257" r:id="rId3"/>
    <p:sldId id="258" r:id="rId4"/>
    <p:sldId id="262" r:id="rId5"/>
    <p:sldId id="264" r:id="rId6"/>
    <p:sldId id="263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DF76-CA3E-959B-1856-AB858868A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EFDD5-645F-A552-C4D1-188772984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3942-BEDB-44A9-127E-CA4069F4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064EA-CCA2-D77C-7EDF-F4462EEF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A39F-D8DF-5ADD-FCAB-E1FDCE7C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2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61CE-9B26-3A50-073A-8007CB1A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AFAD-8C85-9752-E7C7-0F6D93AB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C4F7E-130B-5956-7EBA-A6EA168F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74D0F-4962-F1B6-B79B-054E35FC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A12D1-C609-8D9E-8332-BA464C79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3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0945-54DE-A55C-ABD7-0A70F437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D9A7C-7240-D9A9-C2E8-812A7E7C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4C66-04EB-B994-6433-F745C2A7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3285-76AD-A3AA-E2E3-345E1E32D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85D3E-8EE2-19CE-D6A5-C5873472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5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1812-ACEC-6E33-34C0-F5843416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97639-BBAF-4C56-8D18-57AE3718A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B6B15-B7F9-316E-204F-767BEBC6B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15D49-D6F5-B7AE-66CB-73702DAA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ED2F0-101C-6B84-AD62-A5050F41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FA08F-C9D0-25C8-5D30-76EC80E5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0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9519-31C9-0BA3-736A-0B260C14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1F364-362E-8ED8-C627-63592F13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C0746-8B65-BC64-7D71-EC2A775A9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EB951-069A-55DF-DD38-7A271963A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532F8-C2FB-76C2-C8D6-D73CC5118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B6608-D7FC-085C-7171-88EC9F41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9A645-DFA2-CBF9-B67B-695A1F2E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C85E8-2BAB-49FB-0DED-F69778EA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4FD4-B99D-A997-FEBB-3E4D3831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B3231-0D48-804E-8DD3-60384EF7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E42A1-A3E9-E0A8-E7FB-ABBB7900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07E0D-A036-B210-986B-5596B1E1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9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775FC-4FAD-E801-B037-6FD890B6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6E80E-4546-C4A3-EA02-A4A5F6EE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5C5B3-4480-DC1C-7E24-6F2D7F91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8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9BDB-FCDD-C6E9-AE64-68BE3A7E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D7EB5-2AB7-FB72-E49A-19C0D491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29A3E-8508-C0DC-B86D-9EC90383E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50FE-655B-8979-DB76-D1B63ED1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0BCB9-CA4C-A7DA-BD30-ACC24FDB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D38E6-53D3-18F0-EFA6-72003FA5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155B-977A-04E3-E9EC-84CAB762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9653B-E8F9-F15E-B859-83A31EAF2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32BD-0B21-72D8-5D91-CB5BA8BA5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C9248-E373-13C9-C2E2-461AECB9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51C3C-642D-4F99-88CE-13B9436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73DA-6EC4-D34A-F296-3C2F8569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FC6F-E37D-D650-DB67-DBEABAD8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4FE4C-272F-B92A-43F4-D8694F2A2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E7A51-C81F-39CB-C848-6515E093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28F39-1D93-3FA3-05DC-29D5F7D3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FECF3-34C1-8DA3-DA31-7CBFF4DF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9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D717E-0089-D538-471B-99FC1AEA1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3A785-1136-F75A-DE9D-AE304EBE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70C70-0567-A64C-E1A6-C3C296FC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C1003-658D-7EA0-6676-64997631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EE82C-7DBE-E52C-FB88-53CABB97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56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9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988AB-5216-476E-306F-F12498CA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D0861-91F2-31EC-4AC9-2E4422F48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7FF3-1B7C-7C10-80E3-37E8A89AE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D435E-28EE-7B53-02F4-87BAB9983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724B-0E4A-448F-132B-132DD56A8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9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Financial graphs on a dark display">
            <a:extLst>
              <a:ext uri="{FF2B5EF4-FFF2-40B4-BE49-F238E27FC236}">
                <a16:creationId xmlns:a16="http://schemas.microsoft.com/office/drawing/2014/main" id="{C09E7C65-89C3-31FD-4ACF-0FCCCBE4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0" r="858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  <a:noFill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400" b="1"/>
            </a:pPr>
            <a:r>
              <a:rPr lang="en-US" sz="4000" cap="all" baseline="0" dirty="0">
                <a:latin typeface="Bahnschrift" panose="020B0502040204020203" pitchFamily="34" charset="0"/>
                <a:ea typeface="+mj-ea"/>
                <a:cs typeface="+mj-cs"/>
              </a:rPr>
              <a:t>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b="1"/>
            </a:pPr>
            <a:r>
              <a:rPr lang="en-US" sz="2000" dirty="0"/>
              <a:t>Task 4: Dashboard Design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1700"/>
            </a:pPr>
            <a:r>
              <a:rPr lang="en-US" sz="2000" dirty="0"/>
              <a:t>Data Analyst Internship –          Elevate Labs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1700"/>
            </a:pPr>
            <a:r>
              <a:rPr lang="en-US" sz="2000" dirty="0"/>
              <a:t>Tool Used: Tableau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1700"/>
            </a:pPr>
            <a:r>
              <a:rPr lang="en-US" sz="2000" dirty="0"/>
              <a:t>Dataset: Sample Sales Data(Kaggle)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92000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	Objective &amp; Dataset: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88615"/>
            <a:ext cx="1078992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lang="en-US" b="1" u="sng" dirty="0">
                <a:latin typeface="Antique Olive Roman" panose="020B0603020204030204" pitchFamily="34" charset="0"/>
              </a:rPr>
              <a:t>Objective:</a:t>
            </a:r>
            <a:endParaRPr lang="en-US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To design an interactive dashboard that provides a clear overview of sales performance and helps business stakeholders analyze trends, products, and regional performance.</a:t>
            </a:r>
          </a:p>
          <a:p>
            <a:pPr>
              <a:spcAft>
                <a:spcPts val="700"/>
              </a:spcAft>
              <a:defRPr sz="1800"/>
            </a:pPr>
            <a:endParaRPr lang="en-US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lang="en-US" u="sng" dirty="0">
                <a:latin typeface="Antique Olive Roman" panose="020B0603020204030204" pitchFamily="34" charset="0"/>
              </a:rPr>
              <a:t>Dataset:</a:t>
            </a: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• Sample Sales Data</a:t>
            </a: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• 2,823 sales records</a:t>
            </a: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• Includes order, product, customer, sales, date, and geographical information.</a:t>
            </a:r>
          </a:p>
          <a:p>
            <a:pPr>
              <a:spcAft>
                <a:spcPts val="700"/>
              </a:spcAft>
              <a:defRPr sz="1800"/>
            </a:pPr>
            <a:endParaRPr lang="en-US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lang="en-US" u="sng" dirty="0">
                <a:latin typeface="Antique Olive Roman" panose="020B0603020204030204" pitchFamily="34" charset="0"/>
              </a:rPr>
              <a:t>Tools Used:</a:t>
            </a: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• Tableau</a:t>
            </a: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• CSV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92000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>
                <a:solidFill>
                  <a:schemeClr val="bg2"/>
                </a:solidFill>
                <a:latin typeface="Arial Black" panose="020B0A04020102020204" pitchFamily="34" charset="0"/>
              </a:rPr>
              <a:t>	Dashboard Overview</a:t>
            </a:r>
            <a:endParaRPr lang="en-US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4421" y="1069611"/>
            <a:ext cx="2548328" cy="190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lang="en-US" sz="2800" u="sng" dirty="0">
                <a:latin typeface="Antique Olive Roman" panose="020B0603020204030204" pitchFamily="34" charset="0"/>
              </a:rPr>
              <a:t>1. Sales Performance Dashboard:-</a:t>
            </a:r>
          </a:p>
          <a:p>
            <a:pPr>
              <a:spcAft>
                <a:spcPts val="700"/>
              </a:spcAft>
              <a:defRPr sz="2000"/>
            </a:pPr>
            <a:endParaRPr lang="en-US" sz="2800" u="sng" dirty="0">
              <a:latin typeface="Antique Olive Roman" panose="020B0603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0B8CE-A8C5-344B-0887-BA9065FE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751" y="934701"/>
            <a:ext cx="6877723" cy="5923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BA4B21-0472-7939-6CB5-B622AFA61040}"/>
              </a:ext>
            </a:extLst>
          </p:cNvPr>
          <p:cNvSpPr txBox="1"/>
          <p:nvPr/>
        </p:nvSpPr>
        <p:spPr>
          <a:xfrm>
            <a:off x="224852" y="-242301"/>
            <a:ext cx="11497456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endParaRPr lang="en-US" sz="2000" u="sng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2000"/>
            </a:pPr>
            <a:r>
              <a:rPr lang="en-US" sz="2000" u="sng" dirty="0">
                <a:latin typeface="Antique Olive Roman" panose="020B0603020204030204" pitchFamily="34" charset="0"/>
              </a:rPr>
              <a:t>2. KPI cards, sales trends, product analysis, country-wise performance, and filters.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BE393-1FCF-4CE3-BCE7-34B07B18E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05"/>
          <a:stretch>
            <a:fillRect/>
          </a:stretch>
        </p:blipFill>
        <p:spPr>
          <a:xfrm>
            <a:off x="484992" y="1109272"/>
            <a:ext cx="11222016" cy="1772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8B8EFA-CBC4-39AD-CFCD-A4477E511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2" y="3256421"/>
            <a:ext cx="11222016" cy="30576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382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94C692-3B30-3A2B-B305-7D9A0124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23" y="351996"/>
            <a:ext cx="9494954" cy="2780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E3A8C7-1D87-B95B-DE58-98BC4254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3" y="3294087"/>
            <a:ext cx="9494954" cy="30017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740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0F162-A7BD-1E3C-1B26-B54E09014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57" y="464695"/>
            <a:ext cx="10914491" cy="59199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760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92000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	</a:t>
            </a:r>
            <a:r>
              <a:rPr dirty="0">
                <a:solidFill>
                  <a:schemeClr val="bg2"/>
                </a:solidFill>
                <a:latin typeface="Arial Black" panose="020B0A04020102020204" pitchFamily="34" charset="0"/>
              </a:rPr>
              <a:t>KPIs &amp;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u="sng" dirty="0">
                <a:latin typeface="Antique Olive Roman" panose="020B0603020204030204" pitchFamily="34" charset="0"/>
              </a:rPr>
              <a:t>Key Performance Indicators</a:t>
            </a:r>
            <a:r>
              <a:rPr lang="en-US" u="sng" dirty="0">
                <a:latin typeface="Antique Olive Roman" panose="020B0603020204030204" pitchFamily="34" charset="0"/>
              </a:rPr>
              <a:t>:-</a:t>
            </a:r>
            <a:endParaRPr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Total Sales — Overall revenue generated from the sales dataset.</a:t>
            </a: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Total Orders — Number of unique orders.</a:t>
            </a: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Units Sold — Total quantity of products sold.</a:t>
            </a: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Average Order Value — Average sales value generated per order.</a:t>
            </a:r>
          </a:p>
          <a:p>
            <a:pPr>
              <a:spcAft>
                <a:spcPts val="700"/>
              </a:spcAft>
              <a:defRPr sz="1800"/>
            </a:pPr>
            <a:endParaRPr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u="sng" dirty="0">
                <a:latin typeface="Antique Olive Roman" panose="020B0603020204030204" pitchFamily="34" charset="0"/>
              </a:rPr>
              <a:t>Interactive Filters</a:t>
            </a:r>
            <a:r>
              <a:rPr lang="en-US" u="sng" dirty="0">
                <a:latin typeface="Antique Olive Roman" panose="020B0603020204030204" pitchFamily="34" charset="0"/>
              </a:rPr>
              <a:t>:</a:t>
            </a:r>
            <a:endParaRPr u="sng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Year</a:t>
            </a:r>
          </a:p>
          <a:p>
            <a:pPr>
              <a:spcAft>
                <a:spcPts val="700"/>
              </a:spcAft>
              <a:defRPr sz="1800"/>
            </a:pPr>
            <a:r>
              <a:rPr dirty="0">
                <a:latin typeface="Antique Olive Roman" panose="020B0603020204030204" pitchFamily="34" charset="0"/>
              </a:rPr>
              <a:t>• Product Line</a:t>
            </a:r>
          </a:p>
          <a:p>
            <a:pPr>
              <a:spcAft>
                <a:spcPts val="700"/>
              </a:spcAft>
              <a:defRPr sz="1800"/>
            </a:pPr>
            <a:endParaRPr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lang="en-US" dirty="0">
                <a:latin typeface="Antique Olive Roman" panose="020B0603020204030204" pitchFamily="34" charset="0"/>
              </a:rPr>
              <a:t>*</a:t>
            </a:r>
            <a:r>
              <a:rPr dirty="0">
                <a:latin typeface="Antique Olive Roman" panose="020B0603020204030204" pitchFamily="34" charset="0"/>
              </a:rPr>
              <a:t>These filters allow users to dynamically explore the dashboard based on their selected criteria.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92000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	</a:t>
            </a:r>
            <a:r>
              <a:rPr dirty="0">
                <a:solidFill>
                  <a:schemeClr val="bg2"/>
                </a:solidFill>
                <a:latin typeface="Arial Black" panose="020B0A04020102020204" pitchFamily="34" charset="0"/>
              </a:rPr>
              <a:t>Visualizations &amp;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rPr b="1" u="sng" dirty="0">
                <a:latin typeface="Antique Olive Roman" panose="020B0603020204030204" pitchFamily="34" charset="0"/>
              </a:rPr>
              <a:t>Dashboard Visualizations</a:t>
            </a:r>
            <a:r>
              <a:rPr lang="en-US" b="1" dirty="0">
                <a:latin typeface="Antique Olive Roman" panose="020B0603020204030204" pitchFamily="34" charset="0"/>
              </a:rPr>
              <a:t>:</a:t>
            </a: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700"/>
            </a:pP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Monthly Sales Trend — Identifies sales patterns across months.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Sales by Product Line — Compares performance across product categories.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Sales by Country — Highlights the top-performing markets.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Top 10 Products — Identifies products generating the highest sales.</a:t>
            </a:r>
          </a:p>
          <a:p>
            <a:pPr>
              <a:spcAft>
                <a:spcPts val="700"/>
              </a:spcAft>
              <a:defRPr sz="1700"/>
            </a:pP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700"/>
            </a:pPr>
            <a:r>
              <a:rPr b="1" u="sng" dirty="0">
                <a:latin typeface="Antique Olive Roman" panose="020B0603020204030204" pitchFamily="34" charset="0"/>
              </a:rPr>
              <a:t>Key Insights</a:t>
            </a:r>
            <a:r>
              <a:rPr lang="en-US" b="1" u="sng" dirty="0">
                <a:latin typeface="Antique Olive Roman" panose="020B0603020204030204" pitchFamily="34" charset="0"/>
              </a:rPr>
              <a:t>:</a:t>
            </a:r>
            <a:endParaRPr b="1" u="sng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700"/>
            </a:pP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Sales performance varies across different months.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Product lines contribute differently to overall sales.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A limited number of countries account for a significant share of sales.</a:t>
            </a:r>
          </a:p>
          <a:p>
            <a:pPr>
              <a:spcAft>
                <a:spcPts val="700"/>
              </a:spcAft>
              <a:defRPr sz="1700"/>
            </a:pPr>
            <a:r>
              <a:rPr b="1" dirty="0">
                <a:latin typeface="Antique Olive Roman" panose="020B0603020204030204" pitchFamily="34" charset="0"/>
              </a:rPr>
              <a:t>• Top products can be identified for better sales and inventory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1612880" cy="5232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solidFill>
                  <a:schemeClr val="bg2"/>
                </a:solidFill>
              </a:rPr>
              <a:t>	</a:t>
            </a:r>
            <a:r>
              <a:rPr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The interactive dashboard provides a consolidated view of sales performance through KPIs, trends, product analysis, and geographical analysis.</a:t>
            </a:r>
          </a:p>
          <a:p>
            <a:pPr>
              <a:spcAft>
                <a:spcPts val="700"/>
              </a:spcAft>
              <a:defRPr sz="1800"/>
            </a:pP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b="1" u="sng" dirty="0">
                <a:latin typeface="Antique Olive Roman" panose="020B0603020204030204" pitchFamily="34" charset="0"/>
              </a:rPr>
              <a:t>Business Value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• Helps stakeholders monitor sales performance.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• Makes important sales trends easier to identify.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• Supports product and regional performance analysis.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• Enables interactive exploration using filters.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• Can assist in making data-driven business decisions.</a:t>
            </a:r>
          </a:p>
          <a:p>
            <a:pPr>
              <a:spcAft>
                <a:spcPts val="700"/>
              </a:spcAft>
              <a:defRPr sz="1800"/>
            </a:pPr>
            <a:endParaRPr b="1" dirty="0">
              <a:latin typeface="Antique Olive Roman" panose="020B0603020204030204" pitchFamily="34" charset="0"/>
            </a:endParaRPr>
          </a:p>
          <a:p>
            <a:pPr>
              <a:spcAft>
                <a:spcPts val="700"/>
              </a:spcAft>
              <a:defRPr sz="1800"/>
            </a:pPr>
            <a:r>
              <a:rPr b="1" u="sng" dirty="0">
                <a:latin typeface="Antique Olive Roman" panose="020B0603020204030204" pitchFamily="34" charset="0"/>
              </a:rPr>
              <a:t>Outcome</a:t>
            </a:r>
          </a:p>
          <a:p>
            <a:pPr>
              <a:spcAft>
                <a:spcPts val="700"/>
              </a:spcAft>
              <a:defRPr sz="1800"/>
            </a:pPr>
            <a:r>
              <a:rPr b="1" dirty="0">
                <a:latin typeface="Antique Olive Roman" panose="020B0603020204030204" pitchFamily="34" charset="0"/>
              </a:rPr>
              <a:t>Designed an interactive Tableau dashboard to transform sales data into actionable business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375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Antique Olive Roman</vt:lpstr>
      <vt:lpstr>Aptos</vt:lpstr>
      <vt:lpstr>Aptos Display</vt:lpstr>
      <vt:lpstr>Arial</vt:lpstr>
      <vt:lpstr>Arial Black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Vaishnavi Yadav</cp:lastModifiedBy>
  <cp:revision>3</cp:revision>
  <dcterms:created xsi:type="dcterms:W3CDTF">2013-01-27T09:14:16Z</dcterms:created>
  <dcterms:modified xsi:type="dcterms:W3CDTF">2026-09-03T15:26:02Z</dcterms:modified>
  <cp:category/>
</cp:coreProperties>
</file>